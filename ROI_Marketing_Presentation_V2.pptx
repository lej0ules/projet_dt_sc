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AABBCC"/>
                </a:solidFill>
                <a:latin typeface="Arial"/>
              </a:rPr>
              <a:t>Corrélations avec la variable cible Sales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Corrélation (Pearson)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C5A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TV</c:v>
                  </c:pt>
                  <c:pt idx="1">
                    <c:v>Radio</c:v>
                  </c:pt>
                  <c:pt idx="2">
                    <c:v>Social Media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</c:v>
                </c:pt>
                <c:pt idx="1">
                  <c:v>0.87</c:v>
                </c:pt>
                <c:pt idx="2">
                  <c:v>0.28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6350" cap="flat">
              <a:solidFill>
                <a:srgbClr val="2A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F2A40"/>
        </a:solidFill>
        <a:ln>
          <a:noFill/>
        </a:ln>
        <a:effectLst/>
      </c:spPr>
    </c:plotArea>
    <c:plotVisOnly val="1"/>
    <c:dispBlanksAs val="span"/>
  </c:chart>
  <c:spPr>
    <a:solidFill>
      <a:srgbClr val="1F2A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AABBCC"/>
                </a:solidFill>
                <a:latin typeface="Arial"/>
              </a:rPr>
              <a:t>R² Test (plus haut = mieux)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Test</c:v>
                </c:pt>
              </c:strCache>
            </c:strRef>
          </c:tx>
          <c:spPr>
            <a:solidFill>
              <a:srgbClr val="8899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899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788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C5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5DE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Rég.
Linéaire</c:v>
                  </c:pt>
                  <c:pt idx="1">
                    <c:v>Ridge</c:v>
                  </c:pt>
                  <c:pt idx="2">
                    <c:v>Random
Forest</c:v>
                  </c:pt>
                  <c:pt idx="3">
                    <c:v>XGBoost ★</c:v>
                  </c:pt>
                  <c:pt idx="4">
                    <c:v>MLP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0.9921</c:v>
                </c:pt>
                <c:pt idx="1">
                  <c:v>0.9921</c:v>
                </c:pt>
                <c:pt idx="2">
                  <c:v>0.9945</c:v>
                </c:pt>
                <c:pt idx="3">
                  <c:v>0.9939</c:v>
                </c:pt>
                <c:pt idx="4">
                  <c:v>0.9918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9"/>
        </c:scaling>
        <c:delete val="0"/>
        <c:axPos val="l"/>
        <c:majorGridlines>
          <c:spPr>
            <a:ln w="6350" cap="flat">
              <a:solidFill>
                <a:srgbClr val="2A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F2A40"/>
        </a:solidFill>
        <a:ln>
          <a:noFill/>
        </a:ln>
        <a:effectLst/>
      </c:spPr>
    </c:plotArea>
    <c:plotVisOnly val="1"/>
    <c:dispBlanksAs val="span"/>
  </c:chart>
  <c:spPr>
    <a:solidFill>
      <a:srgbClr val="1F2A4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2E"/>
                </a:solidFill>
                <a:latin typeface="Arial"/>
              </a:rPr>
              <a:t>Impact marginal — tous modèles (ΔSales M€)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Rég. Linéaire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TV</c:v>
                  </c:pt>
                  <c:pt idx="1">
                    <c:v>Radio</c:v>
                  </c:pt>
                  <c:pt idx="2">
                    <c:v>Social Media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91.9985</c:v>
                </c:pt>
                <c:pt idx="1">
                  <c:v>1.2698</c:v>
                </c:pt>
                <c:pt idx="2">
                  <c:v>0.1541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Ridge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TV</c:v>
                  </c:pt>
                  <c:pt idx="1">
                    <c:v>Radio</c:v>
                  </c:pt>
                  <c:pt idx="2">
                    <c:v>Social Media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91.9975</c:v>
                </c:pt>
                <c:pt idx="1">
                  <c:v>1.2707</c:v>
                </c:pt>
                <c:pt idx="2">
                  <c:v>0.1541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TV</c:v>
                  </c:pt>
                  <c:pt idx="1">
                    <c:v>Radio</c:v>
                  </c:pt>
                  <c:pt idx="2">
                    <c:v>Social Media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78.3814</c:v>
                </c:pt>
                <c:pt idx="1">
                  <c:v>2.5021</c:v>
                </c:pt>
                <c:pt idx="2">
                  <c:v>0.0067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TV</c:v>
                  </c:pt>
                  <c:pt idx="1">
                    <c:v>Radio</c:v>
                  </c:pt>
                  <c:pt idx="2">
                    <c:v>Social Media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75.44</c:v>
                </c:pt>
                <c:pt idx="1">
                  <c:v>5.79</c:v>
                </c:pt>
                <c:pt idx="2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TV</c:v>
                  </c:pt>
                  <c:pt idx="1">
                    <c:v>Radio</c:v>
                  </c:pt>
                  <c:pt idx="2">
                    <c:v>Social Media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92.02</c:v>
                </c:pt>
                <c:pt idx="1">
                  <c:v>4.6191</c:v>
                </c:pt>
                <c:pt idx="2">
                  <c:v>1.055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AABBCC"/>
                </a:solidFill>
                <a:latin typeface="Arial"/>
              </a:rPr>
              <a:t>Feature Importance — XGBoost (native)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 (native)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C5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99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7889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677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56677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TV</c:v>
                  </c:pt>
                  <c:pt idx="1">
                    <c:v>Radio</c:v>
                  </c:pt>
                  <c:pt idx="2">
                    <c:v>Social Media</c:v>
                  </c:pt>
                  <c:pt idx="3">
                    <c:v>Macro</c:v>
                  </c:pt>
                  <c:pt idx="4">
                    <c:v>Nano</c:v>
                  </c:pt>
                  <c:pt idx="5">
                    <c:v>Micro</c:v>
                  </c:pt>
                  <c:pt idx="6">
                    <c:v>Mega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0.72</c:v>
                </c:pt>
                <c:pt idx="1">
                  <c:v>0.24</c:v>
                </c:pt>
                <c:pt idx="2">
                  <c:v>0.025</c:v>
                </c:pt>
                <c:pt idx="3">
                  <c:v>0.008</c:v>
                </c:pt>
                <c:pt idx="4">
                  <c:v>0.004</c:v>
                </c:pt>
                <c:pt idx="5">
                  <c:v>0.002</c:v>
                </c:pt>
                <c:pt idx="6">
                  <c:v>0.001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F2A40"/>
        </a:solidFill>
        <a:ln>
          <a:noFill/>
        </a:ln>
        <a:effectLst/>
      </c:spPr>
    </c:plotArea>
    <c:plotVisOnly val="1"/>
    <c:dispBlanksAs val="span"/>
  </c:chart>
  <c:spPr>
    <a:solidFill>
      <a:srgbClr val="1F2A4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AABBCC"/>
                </a:solidFill>
                <a:latin typeface="Arial"/>
              </a:defRPr>
            </a:pPr>
            <a:r>
              <a:rPr sz="900" b="0" i="0" u="none" strike="noStrike">
                <a:solidFill>
                  <a:srgbClr val="AABBCC"/>
                </a:solidFill>
                <a:latin typeface="Arial"/>
              </a:rPr>
              <a:t>Permutation Importance (réduction de performance sur test set)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Permutation Importance</c:v>
                </c:pt>
              </c:strCache>
            </c:strRef>
          </c:tx>
          <c:spPr>
            <a:solidFill>
              <a:srgbClr val="9B5D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TV</c:v>
                  </c:pt>
                  <c:pt idx="1">
                    <c:v>Radio</c:v>
                  </c:pt>
                  <c:pt idx="2">
                    <c:v>Soc.Med</c:v>
                  </c:pt>
                  <c:pt idx="3">
                    <c:v>Micro</c:v>
                  </c:pt>
                  <c:pt idx="4">
                    <c:v>Mega</c:v>
                  </c:pt>
                  <c:pt idx="5">
                    <c:v>Nano</c:v>
                  </c:pt>
                  <c:pt idx="6">
                    <c:v>Macro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1.65</c:v>
                </c:pt>
                <c:pt idx="1">
                  <c:v>0.02</c:v>
                </c:pt>
                <c:pt idx="2">
                  <c:v>0.001</c:v>
                </c:pt>
                <c:pt idx="3">
                  <c:v>0.0005</c:v>
                </c:pt>
                <c:pt idx="4">
                  <c:v>0.0004</c:v>
                </c:pt>
                <c:pt idx="5">
                  <c:v>0.0003</c:v>
                </c:pt>
                <c:pt idx="6">
                  <c:v>0.0002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F2A40"/>
        </a:solidFill>
        <a:ln>
          <a:noFill/>
        </a:ln>
        <a:effectLst/>
      </c:spPr>
    </c:plotArea>
    <c:plotVisOnly val="1"/>
    <c:dispBlanksAs val="span"/>
  </c:chart>
  <c:spPr>
    <a:solidFill>
      <a:srgbClr val="1F2A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94560">
              <a:alpha val="18000"/>
            </a:srgbClr>
          </a:solidFill>
          <a:ln w="12700">
            <a:solidFill>
              <a:srgbClr val="E9456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560320" cy="256032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0BC5A0">
              <a:alpha val="15000"/>
            </a:srgbClr>
          </a:solidFill>
          <a:ln w="12700">
            <a:solidFill>
              <a:srgbClr val="0BC5A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56032"/>
            <a:ext cx="4114800" cy="3474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560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Projet certifiant RNCP40875 — Expert en Ingénierie de Données — Bloc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77724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Optimisation du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7472" y="14813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 Marketing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347472" y="2377440"/>
            <a:ext cx="6217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CDDEE"/>
                </a:solidFill>
              </a:rPr>
              <a:t>Système Intelligent Multi-Modèles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" y="30632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BCC"/>
                </a:solidFill>
              </a:rPr>
              <a:t>"Prédire les ventes et optimiser l'allocation budgétaire TV, Radio,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ABBCC"/>
                </a:solidFill>
              </a:rPr>
              <a:t>Social Media &amp; Influenceurs pour maximiser le ROI"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BAA"/>
                </a:solidFill>
              </a:rPr>
              <a:t>Matisse Marchand &amp; Julio Lemos Gil  |  M1 Data Engineering &amp; IA  |  EFREI 2025-26  |  Formatrice : Sarah Malaeb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4560"/>
                </a:solidFill>
              </a:rPr>
              <a:t>CONTEXTE &amp; PROBLÉMATIQUE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5029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Maximiser l'impact de chaque euro investi en marketing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92608" y="1097280"/>
            <a:ext cx="8577072" cy="64008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1097280"/>
            <a:ext cx="8577072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"Un système intelligent multi-modèles pour prédire les ventes et optimiser l'allocation budgétaire TV · Radio · Social Media · Influenceurs"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" y="1920240"/>
            <a:ext cx="2788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1920240"/>
            <a:ext cx="2788920" cy="914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20848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Multiplication des Canaux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251460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TV, Radio, Social Media, Influenceurs — complexité croissante de l'écosystème publicitaire et des décisions d'allocation.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36976" y="1920240"/>
            <a:ext cx="2788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6976" y="1920240"/>
            <a:ext cx="278892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374136" y="20848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Enjeu d'Allocation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74136" y="251460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Quantifier précisément l'impact marginal de chaque euro investi par canal pour maximiser le chiffre d'affaires généré.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1920240"/>
            <a:ext cx="2788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1920240"/>
            <a:ext cx="2788920" cy="91440"/>
          </a:xfrm>
          <a:prstGeom prst="rect">
            <a:avLst/>
          </a:prstGeom>
          <a:solidFill>
            <a:srgbClr val="0BC5A0"/>
          </a:solidFill>
          <a:ln/>
        </p:spPr>
      </p:sp>
      <p:sp>
        <p:nvSpPr>
          <p:cNvPr id="18" name="Text 16"/>
          <p:cNvSpPr/>
          <p:nvPr/>
        </p:nvSpPr>
        <p:spPr>
          <a:xfrm>
            <a:off x="6318504" y="20848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Objectif Stratégique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18504" y="251460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Système de régression supervisée : prédire les ventes + simuler des scénarios budgétaires + interpréter les leviers.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C5A0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C5A0"/>
                </a:solidFill>
              </a:rPr>
              <a:t>UTILISATEURS &amp; VALEUR AJOUTÉE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5029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Une aide à la décision pour les équipes marketing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97280" y="1078992"/>
            <a:ext cx="1170432" cy="1170432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07899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Direction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23774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Vision stratégique allocation budgétaire &amp; maximisation ROI global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41648" y="1078992"/>
            <a:ext cx="1170432" cy="1170432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41648" y="107899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41648" y="173736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Marketing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36976" y="23774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Analyse des canaux, modélisation ROI, comparaison des modèles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86016" y="1078992"/>
            <a:ext cx="1170432" cy="1170432"/>
          </a:xfrm>
          <a:prstGeom prst="ellipse">
            <a:avLst/>
          </a:prstGeom>
          <a:solidFill>
            <a:srgbClr val="0BC5A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86016" y="107899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Équipe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Opé.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86016" y="173736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Terrain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81344" y="23774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Simulations What-if, prédictions temps réel, priorisation actions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" y="3154680"/>
            <a:ext cx="85770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246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SCÉNARIOS D'USAGE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3584448"/>
            <a:ext cx="2057400" cy="1298448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608" y="362102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Prédiction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" y="4069080"/>
            <a:ext cx="20574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Sales en M€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pour tout budget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05456" y="3584448"/>
            <a:ext cx="2057400" cy="1298448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05456" y="362102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Simulation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05456" y="4069080"/>
            <a:ext cx="20574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What-if analysis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par canal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18304" y="3584448"/>
            <a:ext cx="2057400" cy="1298448"/>
          </a:xfrm>
          <a:prstGeom prst="rect">
            <a:avLst/>
          </a:prstGeom>
          <a:solidFill>
            <a:srgbClr val="0BC5A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18304" y="362102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Priorisation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18304" y="4069080"/>
            <a:ext cx="20574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Canaux à fort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ROI marginal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31152" y="3584448"/>
            <a:ext cx="2057400" cy="1298448"/>
          </a:xfrm>
          <a:prstGeom prst="rect">
            <a:avLst/>
          </a:prstGeom>
          <a:solidFill>
            <a:srgbClr val="9B5DE5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31152" y="3621024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Temps Réel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31152" y="4069080"/>
            <a:ext cx="205740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Confiance 99.4%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résultat instantané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</a:rPr>
              <a:t>RÉFÉRENTIEL DE DONNÉES &amp; MÉTHODOLOGIE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5029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Kaggle Dummy Ads · 4 572 lignes · Pipeline ML reproductible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92608" y="1097280"/>
            <a:ext cx="5074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</a:rPr>
              <a:t>4 572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Lignes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188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</a:rPr>
              <a:t>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103120" y="1709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Variables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1188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</a:rPr>
              <a:t>0.57%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49040" y="1709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NaN traitées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084832"/>
          <a:ext cx="4919472" cy="2560320"/>
        </p:xfrm>
        <a:graphic>
          <a:graphicData uri="http://schemas.openxmlformats.org/drawingml/2006/table">
            <a:tbl>
              <a:tblPr/>
              <a:tblGrid>
                <a:gridCol w="1639824"/>
                <a:gridCol w="1639824"/>
                <a:gridCol w="1639824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/ Radio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Budgets publicitaires (M€)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réseaux sociaux (M€)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 / Macro / Micro / Nano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généré (M€)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532120" y="1097280"/>
            <a:ext cx="33375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50992" y="11887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MÉTHODOLOGIE AGILE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50992" y="1572768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4"/>
          <p:cNvSpPr/>
          <p:nvPr/>
        </p:nvSpPr>
        <p:spPr>
          <a:xfrm>
            <a:off x="5650992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26480" y="161848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Exploration (EDA)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43016" y="1975104"/>
            <a:ext cx="0" cy="219456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5650992" y="219456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8"/>
          <p:cNvSpPr/>
          <p:nvPr/>
        </p:nvSpPr>
        <p:spPr>
          <a:xfrm>
            <a:off x="5650992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26480" y="224028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843016" y="2596896"/>
            <a:ext cx="0" cy="219456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5650992" y="2816352"/>
            <a:ext cx="384048" cy="384048"/>
          </a:xfrm>
          <a:prstGeom prst="ellipse">
            <a:avLst/>
          </a:prstGeom>
          <a:solidFill>
            <a:srgbClr val="0BC5A0"/>
          </a:solidFill>
          <a:ln/>
        </p:spPr>
      </p:sp>
      <p:sp>
        <p:nvSpPr>
          <p:cNvPr id="25" name="Text 22"/>
          <p:cNvSpPr/>
          <p:nvPr/>
        </p:nvSpPr>
        <p:spPr>
          <a:xfrm>
            <a:off x="565099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26480" y="286207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Modélisation × 5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843016" y="3218688"/>
            <a:ext cx="0" cy="219456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5650992" y="3438144"/>
            <a:ext cx="384048" cy="384048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29" name="Text 26"/>
          <p:cNvSpPr/>
          <p:nvPr/>
        </p:nvSpPr>
        <p:spPr>
          <a:xfrm>
            <a:off x="5650992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126480" y="348386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Évaluation &amp; SHAP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843016" y="3840480"/>
            <a:ext cx="0" cy="219456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5650992" y="4059936"/>
            <a:ext cx="384048" cy="384048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33" name="Text 30"/>
          <p:cNvSpPr/>
          <p:nvPr/>
        </p:nvSpPr>
        <p:spPr>
          <a:xfrm>
            <a:off x="5650992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126480" y="410565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Dashboard Streamlit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650992" y="46634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GitHub · Python 3.12 · Scikit-learn · Streamlit · XGBoost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</a:rPr>
              <a:t>ANALYSE EXPLORATOIRE (EDA)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Corrélations &amp; Insights — Compréhension des données avant modélisation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2788920" cy="1481328"/>
          </a:xfrm>
          <a:prstGeom prst="rect">
            <a:avLst/>
          </a:prstGeom>
          <a:solidFill>
            <a:srgbClr val="E94560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0698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0.99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92608" y="1691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Corrélation TV → Sales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9476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Levier principal — 1M€ TV ≈ +3.5M€ ventes générées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36976" y="1024128"/>
            <a:ext cx="2788920" cy="1481328"/>
          </a:xfrm>
          <a:prstGeom prst="rect">
            <a:avLst/>
          </a:prstGeom>
          <a:solidFill>
            <a:srgbClr val="F5A623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36976" y="10698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0.87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36976" y="1691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Corrélation Radio → Sales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28416" y="19476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Levier secondaire puissant, synergie halo avec la TV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1024128"/>
            <a:ext cx="2788920" cy="1481328"/>
          </a:xfrm>
          <a:prstGeom prst="rect">
            <a:avLst/>
          </a:prstGeom>
          <a:solidFill>
            <a:srgbClr val="0BC5A0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81344" y="10698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+0.07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181344" y="1691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Skewness des Ventes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72784" y="19476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Distribution quasi-normale — régression parfaitement adaptée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92608" y="2633472"/>
          <a:ext cx="5074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532120" y="2633472"/>
            <a:ext cx="3337560" cy="2286000"/>
          </a:xfrm>
          <a:prstGeom prst="rect">
            <a:avLst/>
          </a:prstGeom>
          <a:solidFill>
            <a:srgbClr val="1F2A4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650992" y="272491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</a:rPr>
              <a:t>HYPOTHÈSES MÉTIER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650992" y="3090672"/>
            <a:ext cx="3127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</a:rPr>
              <a:t>→  TV : moteur de croissance dominant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</a:rPr>
              <a:t>→  Radio amplifie l'effet TV (halo pub)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</a:rPr>
              <a:t>→  Social Media : rôle secondaire limité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</a:rPr>
              <a:t>→  Distribution normale → régression valide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C5A0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C5A0"/>
                </a:solidFill>
              </a:rPr>
              <a:t>PIPELINE DATA SCIENCE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5029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Architecture end-to-end · Du CSV brut au Dashboard décisionnel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01168" y="1115568"/>
            <a:ext cx="1115568" cy="1298448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11612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" y="14173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" y="1664208"/>
            <a:ext cx="111556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Kaggle CSV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4 572 obs.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35024" y="1764792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1115568"/>
            <a:ext cx="1115568" cy="1298448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11612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14173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1664208"/>
            <a:ext cx="111556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Corrélations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Distributions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96896" y="1764792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4912" y="1115568"/>
            <a:ext cx="1115568" cy="1298448"/>
          </a:xfrm>
          <a:prstGeom prst="rect">
            <a:avLst/>
          </a:prstGeom>
          <a:solidFill>
            <a:srgbClr val="0BC5A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24912" y="11612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24912" y="14173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24912" y="1664208"/>
            <a:ext cx="111556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Imputation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Encoding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Scaling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58768" y="1764792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86784" y="1115568"/>
            <a:ext cx="1115568" cy="1298448"/>
          </a:xfrm>
          <a:prstGeom prst="rect">
            <a:avLst/>
          </a:prstGeom>
          <a:solidFill>
            <a:srgbClr val="9B5DE5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86784" y="11612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86784" y="14173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86784" y="1664208"/>
            <a:ext cx="111556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 Algorithmes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ML + DL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1764792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48656" y="1115568"/>
            <a:ext cx="1115568" cy="129844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48656" y="11612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48656" y="14173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48656" y="1664208"/>
            <a:ext cx="111556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MAE / R²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RMSE / CV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82512" y="1764792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0528" y="1115568"/>
            <a:ext cx="1115568" cy="1298448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10528" y="11612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0528" y="14173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10528" y="1664208"/>
            <a:ext cx="111556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Importance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Marginal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44384" y="1764792"/>
            <a:ext cx="109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1115568"/>
            <a:ext cx="1115568" cy="1298448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72400" y="116128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772400" y="14173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0" y="1664208"/>
            <a:ext cx="111556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Streamlit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Dashboard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92608" y="2578608"/>
            <a:ext cx="8577072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1" name="Text 39"/>
          <p:cNvSpPr/>
          <p:nvPr/>
        </p:nvSpPr>
        <p:spPr>
          <a:xfrm>
            <a:off x="292608" y="2578608"/>
            <a:ext cx="8577072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SPLIT STRATÉGIQUE : 80% Train (3 657 obs.) / 20% Test (915 obs.)  ·  StandardScaler  ·  OneHotEncoding  ·  Médiane imputée train only (évite data leakage)  ·  preprocessor.pkl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92608" y="3200400"/>
            <a:ext cx="162763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92608" y="3273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Régression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Linéaire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92608" y="38862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Baseline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048256" y="3200400"/>
            <a:ext cx="162763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048256" y="3273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Ridge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048256" y="38862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Régularisé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03904" y="3200400"/>
            <a:ext cx="162763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803904" y="3273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Random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Forest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803904" y="38862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Ensemble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59552" y="3200400"/>
            <a:ext cx="1627632" cy="1664208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559552" y="3273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XGBoost ★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559552" y="38862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Sélectionné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559552" y="420624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MODÈLE FINAL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315200" y="3200400"/>
            <a:ext cx="162763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15200" y="3273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MLP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315200" y="38862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Deep Learning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4560"/>
                </a:solidFill>
              </a:rPr>
              <a:t>PRÉPARATION DES DONNÉES &amp; STACK TECHNIQUE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5029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Pipeline Scikit-learn reproductible · Joblib sérialisé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92608" y="1097280"/>
            <a:ext cx="5074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188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ÉTAPES DE PREPROCESSING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73152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572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Nettoyage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1773936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0,57% valeurs manquantes → imputation médiane calculée sur train set uniquement (pas de data leakage)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194560"/>
            <a:ext cx="73152" cy="411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2194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Encodage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239572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OneHotEncoding sur la variable Influencer → 4 colonnes binaires : Mega / Macro / Micro / Nano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816352"/>
            <a:ext cx="73152" cy="411480"/>
          </a:xfrm>
          <a:prstGeom prst="rect">
            <a:avLst/>
          </a:prstGeom>
          <a:solidFill>
            <a:srgbClr val="0BC5A0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" y="2816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Standardisation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" y="301752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StandardScaler sur variables numériques — indispensable pour MLP, transparent pour arbres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3438144"/>
            <a:ext cx="73152" cy="41148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" y="34381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Split 80/20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" y="3639312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3 657 observations train · 915 test · Cross-validation 5-fold pour évaluer la stabilité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4059936"/>
            <a:ext cx="73152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" y="4059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Sérialisation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" y="4261104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Pipeline complète → preprocessor.pkl via Joblib — reproductibilité et déploiement garantis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1097280"/>
            <a:ext cx="33375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50992" y="11887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STACK TECHNIQUE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50992" y="1572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Data &amp; Processing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50992" y="18470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Python 3.12  ·  Pandas &amp; NumPy  ·  Scikit-learn Pipeline  ·  Joblib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50992" y="2560320"/>
            <a:ext cx="3063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2761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C5A0"/>
                </a:solidFill>
              </a:rPr>
              <a:t>Modélisation &amp; IA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50992" y="30358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XGBoost  ·  Random Forest  ·  MLP (Neural Net)  ·  SHAP Explainability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50992" y="3749040"/>
            <a:ext cx="3063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3950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Interface &amp; Ops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50992" y="42245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Streamlit Dashboard  ·  Plotly Interactive  ·  GitHub Versioning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4560"/>
                </a:solidFill>
              </a:rPr>
              <a:t>BENCHMARK DES MODÈLES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" y="45720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Évaluation comparative sur Test Set (n = 915 observations)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92608" y="1024128"/>
          <a:ext cx="41148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24128"/>
          <a:ext cx="4297680" cy="2788920"/>
        </p:xfrm>
        <a:graphic>
          <a:graphicData uri="http://schemas.openxmlformats.org/drawingml/2006/table">
            <a:tbl>
              <a:tblPr/>
              <a:tblGrid>
                <a:gridCol w="1143000"/>
                <a:gridCol w="630936"/>
                <a:gridCol w="630936"/>
                <a:gridCol w="658368"/>
                <a:gridCol w="658368"/>
                <a:gridCol w="576072"/>
              </a:tblGrid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55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Rég. Lin.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Rnd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0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92608" y="3913632"/>
            <a:ext cx="8577072" cy="987552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75488" y="39684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CHOIX FINAL : XGBoost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75488" y="4242816"/>
            <a:ext cx="8302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MAE = 2.27 M€  ·  R² = 0.994  ·  Robustesse aux non-linéarités  ·  Rapidité d'inférence  ·  Résidus centrés en zéro  ·  Feature importance native  ·  Compatible SHAP  ·  Déployable via Joblib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</a:rPr>
              <a:t>IMPACT MARGINAL PAR CANAL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5029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ΔSales moyen (M€) généré par canal — Consensus de 5 modèles</a:t>
            </a:r>
            <a:endParaRPr lang="en-US" sz="1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92608" y="1078992"/>
          <a:ext cx="5376672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078992"/>
            <a:ext cx="3154680" cy="35478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1188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INSIGHTS CLÉS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52160" y="1572768"/>
            <a:ext cx="64008" cy="7498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7"/>
          <p:cNvSpPr/>
          <p:nvPr/>
        </p:nvSpPr>
        <p:spPr>
          <a:xfrm>
            <a:off x="6016752" y="157276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4560"/>
                </a:solidFill>
              </a:rPr>
              <a:t>~75–92 M€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016752" y="192024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Impact TV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16752" y="21031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Levier dominant — consensus de tous les modèles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0" y="2578608"/>
            <a:ext cx="64008" cy="7498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6016752" y="257860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</a:rPr>
              <a:t>1.3–5.8 M€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016752" y="292608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Impact Radio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16752" y="31089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Levier secondaire, amplifié via XGBoost (synergie TV)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2160" y="3584448"/>
            <a:ext cx="64008" cy="749808"/>
          </a:xfrm>
          <a:prstGeom prst="rect">
            <a:avLst/>
          </a:prstGeom>
          <a:solidFill>
            <a:srgbClr val="0BC5A0"/>
          </a:solidFill>
          <a:ln/>
        </p:spPr>
      </p:sp>
      <p:sp>
        <p:nvSpPr>
          <p:cNvPr id="18" name="Text 15"/>
          <p:cNvSpPr/>
          <p:nvPr/>
        </p:nvSpPr>
        <p:spPr>
          <a:xfrm>
            <a:off x="6016752" y="358444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C5A0"/>
                </a:solidFill>
              </a:rPr>
              <a:t>~0 M€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016752" y="393192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Social Media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16752" y="41148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Impact marginal quasi-nul — budget à réallouer vers TV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92608" y="4681728"/>
            <a:ext cx="8577072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" y="4681728"/>
            <a:ext cx="8577072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RECOMMANDATION → Réallouer le budget Social Media vers TV (ROI ×50) et renforcer la Radio pour un effet de synergie optimal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C5A0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BC5A0"/>
                </a:solidFill>
              </a:rPr>
              <a:t>IMPORTANCE DES VARIABLES &amp; SHAP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" y="4754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Interprétabilité du modèle XGBoost — Analyse des leviers d'action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92608" y="1024128"/>
          <a:ext cx="5376672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024128"/>
            <a:ext cx="3154680" cy="3154680"/>
          </a:xfrm>
          <a:prstGeom prst="rect">
            <a:avLst/>
          </a:prstGeom>
          <a:solidFill>
            <a:srgbClr val="1F2A4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1338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C5A0"/>
                </a:solidFill>
              </a:rPr>
              <a:t>ANALYSE SHAP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0" y="15087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TV — Moteur #1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1783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</a:rPr>
              <a:t>1M€ investi → +3.5M€ ventes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</a:rPr>
              <a:t>Permutation importance : 1.65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</a:rPr>
              <a:t>(Écrase toutes les autres vars)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2313432"/>
            <a:ext cx="278892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377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Radio — Amplificateur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26517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</a:rPr>
              <a:t>Synergie TV+Radio mesurée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</a:rPr>
              <a:t>Effect de halo publicitaire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</a:rPr>
              <a:t>Impact décuplé avec forte TV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3182112"/>
            <a:ext cx="2788920" cy="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3246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Influenceurs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0" y="35204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</a:rPr>
              <a:t>Mega/Macro → impact stable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</a:rPr>
              <a:t>Nano → notoriété long terme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ABBCC"/>
                </a:solidFill>
              </a:rPr>
              <a:t>Limite d'interprétabilité dataset</a:t>
            </a:r>
            <a:endParaRPr lang="en-US" sz="10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292608" y="4251960"/>
          <a:ext cx="8577072" cy="658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4560"/>
                </a:solidFill>
              </a:rPr>
              <a:t>DASHBOARD DÉCISIONNEL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5029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Interface Streamlit · Simulateur What-if · Prédiction temps réel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92608" y="1097280"/>
            <a:ext cx="5074920" cy="37490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097280"/>
            <a:ext cx="5074920" cy="40233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097280"/>
            <a:ext cx="4956048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Simulateur de Budget Marketing — ROI Optimizer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Budget TV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24528" y="16276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150 M€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883664"/>
            <a:ext cx="4773168" cy="91440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1883664"/>
            <a:ext cx="3579876" cy="914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1305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Budget Radio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24528" y="21305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45 M€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386584"/>
            <a:ext cx="4773168" cy="91440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2386584"/>
            <a:ext cx="2147926" cy="914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633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Social Media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24528" y="26334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12 M€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889504"/>
            <a:ext cx="4773168" cy="91440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889504"/>
            <a:ext cx="954634" cy="914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" y="3218688"/>
            <a:ext cx="4919472" cy="1508760"/>
          </a:xfrm>
          <a:prstGeom prst="rect">
            <a:avLst/>
          </a:prstGeom>
          <a:solidFill>
            <a:srgbClr val="1F2A4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C5A0"/>
                </a:solidFill>
              </a:rPr>
              <a:t>VENTES PRÉDITES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52958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248.5 M€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Confiance : 99.4%  |  Modèle : XGBoost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32120" y="1097280"/>
            <a:ext cx="33375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50992" y="11887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FONCTIONNALITÉS CLÉS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1572768"/>
            <a:ext cx="64008" cy="56692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8" name="Text 26"/>
          <p:cNvSpPr/>
          <p:nvPr/>
        </p:nvSpPr>
        <p:spPr>
          <a:xfrm>
            <a:off x="5733288" y="15727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Simulateur What-if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33288" y="18288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Ajustez TV / Radio / Social Media et voyez l'impact prédit en temps réel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2395728"/>
            <a:ext cx="64008" cy="5669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5733288" y="23957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Analyse SHAP locale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33288" y="26517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Explication de chaque prédiction : pourquoi ce résultat spécifique 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3218688"/>
            <a:ext cx="64008" cy="566928"/>
          </a:xfrm>
          <a:prstGeom prst="rect">
            <a:avLst/>
          </a:prstGeom>
          <a:solidFill>
            <a:srgbClr val="0BC5A0"/>
          </a:solidFill>
          <a:ln/>
        </p:spPr>
      </p:sp>
      <p:sp>
        <p:nvSpPr>
          <p:cNvPr id="34" name="Text 32"/>
          <p:cNvSpPr/>
          <p:nvPr/>
        </p:nvSpPr>
        <p:spPr>
          <a:xfrm>
            <a:off x="5733288" y="32186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Import multi-scénarios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33288" y="3474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CSV ou formulaire — testez et comparez plusieurs allocations budgétaires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4041648"/>
            <a:ext cx="64008" cy="566928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7" name="Text 35"/>
          <p:cNvSpPr/>
          <p:nvPr/>
        </p:nvSpPr>
        <p:spPr>
          <a:xfrm>
            <a:off x="5733288" y="4041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Déploiement Cloud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33288" y="42976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Streamlit Cloud ou Docker, accessible via navigateur sans installation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64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</a:rPr>
              <a:t>LIMITES, GOUVERNANCE &amp; PERSPECTIVES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5029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Analyse critique — Ce qu'on améliorera en production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92608" y="1097280"/>
            <a:ext cx="4133088" cy="37490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097280"/>
            <a:ext cx="4133088" cy="914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252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LIMITES IDENTIFIÉES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 Dataset synthétique (Kaggle) — données réelles plus complexes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 Pas de dimension temporelle (saisonnalité, latence campagnes)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 MLP sous-performant vs XGBoost — surcouche DL peu utile ici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3639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 Social Media peu discriminant — limite liée au dataset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63931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 Aucun monitoring de dérive des données en production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14223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 SHAP nécessite une expertise pour être compris par tous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5152" y="1097280"/>
            <a:ext cx="4206240" cy="37490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45152" y="1097280"/>
            <a:ext cx="4206240" cy="91440"/>
          </a:xfrm>
          <a:prstGeom prst="rect">
            <a:avLst/>
          </a:prstGeom>
          <a:solidFill>
            <a:srgbClr val="0BC5A0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2252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C5A0"/>
                </a:solidFill>
              </a:rPr>
              <a:t>PERSPECTIVES D'AMÉLIORATION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6592" y="1627632"/>
            <a:ext cx="237744" cy="237744"/>
          </a:xfrm>
          <a:prstGeom prst="ellipse">
            <a:avLst/>
          </a:prstGeom>
          <a:solidFill>
            <a:srgbClr val="0BC5A0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157276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Données temporelles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828800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Capturer saisonnalité &amp; effets de latence des campagnes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6592" y="2286000"/>
            <a:ext cx="237744" cy="23774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223113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API REST (FastAPI)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487168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Endpoint /predict pour intégration aux outils CRM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6592" y="2944368"/>
            <a:ext cx="237744" cy="23774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88950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Optimisation budgétaire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3145536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Algorithme scipy.optimize pour maximiser le ROI sous contraintes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36592" y="3602736"/>
            <a:ext cx="237744" cy="237744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35478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Données réelles CRM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3803904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Remplacer le dataset synthétique par des données terrain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36592" y="4261104"/>
            <a:ext cx="237744" cy="237744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420624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MLflow + Monitoring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446227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Suivi de dérive, réentraînement automatique, cloud deploy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E94560">
              <a:alpha val="18000"/>
            </a:srgbClr>
          </a:solidFill>
          <a:ln w="12700">
            <a:solidFill>
              <a:srgbClr val="E9456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926080" cy="2926080"/>
          </a:xfrm>
          <a:prstGeom prst="ellipse">
            <a:avLst/>
          </a:prstGeom>
          <a:solidFill>
            <a:srgbClr val="0BC5A0">
              <a:alpha val="16000"/>
            </a:srgbClr>
          </a:solidFill>
          <a:ln w="12700">
            <a:solidFill>
              <a:srgbClr val="0BC5A0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</a:rPr>
              <a:t>CONCLUSION &amp; BILAN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Un système Data Science complet,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7472" y="10789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</a:rPr>
              <a:t>explicable et opérationnel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47472" y="1737360"/>
            <a:ext cx="2029968" cy="1353312"/>
          </a:xfrm>
          <a:prstGeom prst="rect">
            <a:avLst/>
          </a:prstGeom>
          <a:solidFill>
            <a:srgbClr val="E94560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792224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0.994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" y="2377440"/>
            <a:ext cx="202996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XGBoost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23744" y="1737360"/>
            <a:ext cx="2029968" cy="1353312"/>
          </a:xfrm>
          <a:prstGeom prst="rect">
            <a:avLst/>
          </a:prstGeom>
          <a:solidFill>
            <a:srgbClr val="F5A623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23744" y="1792224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2.27M€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23744" y="2377440"/>
            <a:ext cx="202996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Erreur moyenne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0016" y="1737360"/>
            <a:ext cx="2029968" cy="1353312"/>
          </a:xfrm>
          <a:prstGeom prst="rect">
            <a:avLst/>
          </a:prstGeom>
          <a:solidFill>
            <a:srgbClr val="0BC5A0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0016" y="1792224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0016" y="2377440"/>
            <a:ext cx="202996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Modèles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comparés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76288" y="1737360"/>
            <a:ext cx="2029968" cy="1353312"/>
          </a:xfrm>
          <a:prstGeom prst="rect">
            <a:avLst/>
          </a:prstGeom>
          <a:solidFill>
            <a:srgbClr val="9B5DE5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76288" y="1792224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4 572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76288" y="2377440"/>
            <a:ext cx="202996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Observations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analysées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218688"/>
            <a:ext cx="8430768" cy="1554480"/>
          </a:xfrm>
          <a:prstGeom prst="rect">
            <a:avLst/>
          </a:prstGeom>
          <a:solidFill>
            <a:srgbClr val="1F2A40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310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</a:rPr>
              <a:t>COMPÉTENCES DÉMONTRÉES — RNCP40875 Bloc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" y="3611880"/>
            <a:ext cx="8183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</a:rPr>
              <a:t>EDA &amp; Visualisation  ·  Preprocessing ML  ·  Modélisation multi-algorithmes  ·  Deep Learning (MLP)  ·  Interprétabilité SHAP  ·  Dashboard Streamlit  ·  Gestion de projet Agile  ·  Déploiement Cloud  ·  API REST (FastAPI)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Projet certifiant RNCP40875 — Bloc 2 : Pilotage et implémentation de solutions IA  |  EFREI Paris 2026  |  Matisse Marchand &amp; Julio Lemos Gil  |  Formatrice : Sarah Malaeb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Optimisation du ROI Marketing - Système Intelligent Multi-Modèles</dc:title>
  <dc:subject>PptxGenJS Presentation</dc:subject>
  <dc:creator>PptxGenJS</dc:creator>
  <cp:lastModifiedBy>PptxGenJS</cp:lastModifiedBy>
  <cp:revision>1</cp:revision>
  <dcterms:created xsi:type="dcterms:W3CDTF">2026-05-22T10:25:43Z</dcterms:created>
  <dcterms:modified xsi:type="dcterms:W3CDTF">2026-05-22T10:25:43Z</dcterms:modified>
</cp:coreProperties>
</file>